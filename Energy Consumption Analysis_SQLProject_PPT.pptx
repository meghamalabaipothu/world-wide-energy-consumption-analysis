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7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4DBAE3-3825-4CAF-9CE1-79BB94E61A05}" v="32" dt="2026-07-02T03:56:50.7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72" autoAdjust="0"/>
  </p:normalViewPr>
  <p:slideViewPr>
    <p:cSldViewPr>
      <p:cViewPr varScale="1">
        <p:scale>
          <a:sx n="46" d="100"/>
          <a:sy n="46" d="100"/>
        </p:scale>
        <p:origin x="54" y="4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955" y="506603"/>
            <a:ext cx="5494655" cy="586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4875" y="6256060"/>
            <a:ext cx="2714076" cy="5121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955" y="434974"/>
            <a:ext cx="11272088" cy="790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4792" y="2065273"/>
            <a:ext cx="8437245" cy="3713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meghamala-baipothu-77138525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78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43200" y="3735146"/>
            <a:ext cx="6629400" cy="63350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7251" y="5039804"/>
            <a:ext cx="3376549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1800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by-</a:t>
            </a:r>
            <a:endParaRPr lang="en-US" sz="1800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MEGHAMALA BAIPOTHU</a:t>
            </a:r>
            <a:r>
              <a:rPr sz="1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523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955" y="434974"/>
            <a:ext cx="1127208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40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3185" y="1302859"/>
            <a:ext cx="9412415" cy="296234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300"/>
              </a:spcBef>
              <a:buSzPct val="130555"/>
              <a:buFont typeface="Microsoft Sans Serif"/>
              <a:buChar char="•"/>
              <a:tabLst>
                <a:tab pos="336550" algn="l"/>
              </a:tabLs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.TECH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Microsoft Sans Serif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SzPct val="130555"/>
              <a:buFont typeface="Microsoft Sans Serif"/>
              <a:buChar char="•"/>
              <a:tabLst>
                <a:tab pos="33655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080">
              <a:lnSpc>
                <a:spcPct val="100000"/>
              </a:lnSpc>
              <a:spcBef>
                <a:spcPts val="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chose Data Science because I enjoy analyzing data, finding useful insights, and helping businesses make better decisions.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SzPct val="130555"/>
              <a:buFont typeface="Microsoft Sans Serif"/>
              <a:buChar char="•"/>
              <a:tabLst>
                <a:tab pos="33655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sz="2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</a:t>
            </a:r>
            <a:r>
              <a:rPr lang="en-US"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spc="-10" dirty="0">
                <a:solidFill>
                  <a:schemeClr val="accent1">
                    <a:lumMod val="75000"/>
                  </a:schemeClr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https://www.linkedin.com/in/meghamala-baipothu-77138525a</a:t>
            </a:r>
            <a:endParaRPr lang="en-US" sz="2000" u="sng" spc="-10" dirty="0">
              <a:solidFill>
                <a:schemeClr val="accent1">
                  <a:lumMod val="75000"/>
                </a:schemeClr>
              </a:solidFill>
              <a:uFill>
                <a:solidFill>
                  <a:srgbClr val="0462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SzPct val="130555"/>
              <a:buFont typeface="Microsoft Sans Serif"/>
              <a:buChar char="•"/>
              <a:tabLst>
                <a:tab pos="336550" algn="l"/>
              </a:tabLst>
            </a:pPr>
            <a:endParaRPr lang="en-IN" sz="20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6550" indent="-323850">
              <a:lnSpc>
                <a:spcPct val="100000"/>
              </a:lnSpc>
              <a:buSzPct val="130555"/>
              <a:buFont typeface="Microsoft Sans Serif"/>
              <a:buChar char="•"/>
              <a:tabLst>
                <a:tab pos="33655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20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spc="-10" dirty="0">
                <a:solidFill>
                  <a:schemeClr val="accent1">
                    <a:lumMod val="75000"/>
                  </a:schemeClr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https://github.com/MeghamalaBaipothu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955" y="434974"/>
            <a:ext cx="157543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520" y="1337500"/>
            <a:ext cx="3869054" cy="4050468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1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-285115">
              <a:lnSpc>
                <a:spcPct val="100000"/>
              </a:lnSpc>
              <a:spcBef>
                <a:spcPts val="1085"/>
              </a:spcBef>
              <a:buFont typeface="Microsoft Sans Serif"/>
              <a:buChar char="•"/>
              <a:tabLst>
                <a:tab pos="29781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9B76C9-D188-CB05-1B50-0D47EAFA7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838200"/>
            <a:ext cx="6972300" cy="4648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955" y="434974"/>
            <a:ext cx="4188245" cy="701346"/>
          </a:xfrm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sz="4000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4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360233"/>
            <a:ext cx="1089660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and governments often struggle to analyze worldwide energy data across multiple datasets and energy sources.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include: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production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and economic growth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impact assessment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energy 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and reporting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Energy Consumption Analysis System is required to centralize global energy data, automate analysis, and generate meaningful insights for sustainable energy planning and informed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955" y="434974"/>
            <a:ext cx="11272088" cy="701346"/>
          </a:xfrm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sz="4000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4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99755"/>
            <a:ext cx="103632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 Energy Consumption Analysis System that: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worldwide energy consumption and production data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country-wise GDP and population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carbon emissions across different energy types.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energy production and consumption across countries.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trends in energy usage, emissions, and economic growth.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analytical reports to support sustainable energy planning and data-driven decision-making.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maintain data integrity by establishing relationships between datasets using primary and foreign keys, ensuring accurate and consistent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5934" y="434974"/>
            <a:ext cx="255841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7194" y="1219200"/>
            <a:ext cx="10708640" cy="4629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Energy Consumption Analysis is a SQL-based project developed using MySQL.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six interconnected datasets: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energy data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energy production and consumption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GDP, population, and emissions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using 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1" y="434974"/>
            <a:ext cx="4267200" cy="845873"/>
          </a:xfrm>
          <a:prstGeom prst="rect">
            <a:avLst/>
          </a:prstGeom>
        </p:spPr>
        <p:txBody>
          <a:bodyPr vert="horz" wrap="square" lIns="0" tIns="228092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40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1" y="1632481"/>
            <a:ext cx="4267200" cy="2177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Employees: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06294"/>
              </p:ext>
            </p:extLst>
          </p:nvPr>
        </p:nvGraphicFramePr>
        <p:xfrm>
          <a:off x="5867400" y="1828800"/>
          <a:ext cx="5029200" cy="358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6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2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 details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873850"/>
                  </a:ext>
                </a:extLst>
              </a:tr>
              <a:tr h="527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Consumption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consumption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production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Emission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 emission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Gross Domestic Product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Population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Population data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78945D0-5CEB-C417-A039-C96AB752507C}"/>
              </a:ext>
            </a:extLst>
          </p:cNvPr>
          <p:cNvSpPr txBox="1"/>
          <p:nvPr/>
        </p:nvSpPr>
        <p:spPr>
          <a:xfrm>
            <a:off x="5791200" y="1219200"/>
            <a:ext cx="2743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59955" y="437782"/>
            <a:ext cx="563604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40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sz="40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0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8822" y="1474914"/>
            <a:ext cx="89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40DF0-A88C-9C76-4F58-2D58F1C0E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61225"/>
            <a:ext cx="7162800" cy="5215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ABF6EF-3992-1AC0-7998-BFD249E562D7}"/>
              </a:ext>
            </a:extLst>
          </p:cNvPr>
          <p:cNvSpPr txBox="1"/>
          <p:nvPr/>
        </p:nvSpPr>
        <p:spPr>
          <a:xfrm>
            <a:off x="7696201" y="1524000"/>
            <a:ext cx="1676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Cardinalities</a:t>
            </a:r>
            <a:r>
              <a:rPr lang="en-US" sz="1800" b="1" spc="-10" dirty="0">
                <a:latin typeface="Arial"/>
                <a:cs typeface="Arial"/>
              </a:rPr>
              <a:t>:</a:t>
            </a:r>
            <a:endParaRPr lang="en-US" sz="1800" dirty="0">
              <a:latin typeface="Arial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E8E895-17ED-3C05-2E98-CDEE30491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506575"/>
              </p:ext>
            </p:extLst>
          </p:nvPr>
        </p:nvGraphicFramePr>
        <p:xfrm>
          <a:off x="7696201" y="2057400"/>
          <a:ext cx="3733799" cy="2905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599">
                  <a:extLst>
                    <a:ext uri="{9D8B030D-6E8A-4147-A177-3AD203B41FA5}">
                      <a16:colId xmlns:a16="http://schemas.microsoft.com/office/drawing/2014/main" val="41957883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98802399"/>
                    </a:ext>
                  </a:extLst>
                </a:gridCol>
              </a:tblGrid>
              <a:tr h="484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Relationships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Cardinality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572819"/>
                  </a:ext>
                </a:extLst>
              </a:tr>
              <a:tr h="559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Country → Consumption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: 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5575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Country → Production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: 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527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Country → Emission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: 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6329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Country → GDP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: 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115229"/>
                  </a:ext>
                </a:extLst>
              </a:tr>
              <a:tr h="489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Country → Population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: 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8199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434974"/>
            <a:ext cx="5791200" cy="701346"/>
          </a:xfrm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sz="4000" spc="-2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B97BE4-FB7F-2E20-17B0-AD19DE7AE839}"/>
              </a:ext>
            </a:extLst>
          </p:cNvPr>
          <p:cNvSpPr txBox="1"/>
          <p:nvPr/>
        </p:nvSpPr>
        <p:spPr>
          <a:xfrm>
            <a:off x="609600" y="1371600"/>
            <a:ext cx="975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What is the total emission per country for the most recent year available?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3BD863-778B-1ECD-5643-9D26226F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609" y="1828800"/>
            <a:ext cx="3752991" cy="426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AB2678-55A4-14EC-BA2F-F4F16EF28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266768"/>
            <a:ext cx="4161434" cy="2819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09601" y="434974"/>
            <a:ext cx="11122442" cy="712758"/>
          </a:xfrm>
          <a:prstGeom prst="rect">
            <a:avLst/>
          </a:prstGeom>
        </p:spPr>
        <p:txBody>
          <a:bodyPr vert="horz" wrap="square" lIns="0" tIns="9626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</a:pPr>
            <a:r>
              <a:rPr lang="en-US"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sz="4000" spc="-17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77203-923D-799F-C66E-3597A34A89B4}"/>
              </a:ext>
            </a:extLst>
          </p:cNvPr>
          <p:cNvSpPr txBox="1"/>
          <p:nvPr/>
        </p:nvSpPr>
        <p:spPr>
          <a:xfrm>
            <a:off x="762000" y="1352490"/>
            <a:ext cx="8385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What are the top 5 countries by GDP in the most recent year?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C69700-4C15-69FA-C857-927E15D12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38" y="2047407"/>
            <a:ext cx="2839212" cy="33010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F7B623-C52B-17AB-065A-F8FEFC266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15" y="2182619"/>
            <a:ext cx="3888570" cy="2922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371601"/>
            <a:ext cx="86106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3: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energy production and consumption by country and year.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59955" y="506603"/>
            <a:ext cx="54946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4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B9FCD9-2FA8-665B-896A-C1DB1FD0B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34" y="2175700"/>
            <a:ext cx="4762463" cy="27010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6C2439-75E0-FFFE-9E4E-0D3F485DE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13" y="1799566"/>
            <a:ext cx="5582587" cy="4457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344358"/>
            <a:ext cx="9829800" cy="332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energy types contribute most to emissions across all countries?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59955" y="506603"/>
            <a:ext cx="54946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4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BD19A8-ADDA-0C55-7994-6443CB037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594" y="1930863"/>
            <a:ext cx="3205376" cy="14981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5DDFE3-FC28-547C-E174-54CFEA621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381" y="1930863"/>
            <a:ext cx="5122019" cy="1498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27DE43F-EEAB-CBE9-82C6-832248A1D0CA}"/>
              </a:ext>
            </a:extLst>
          </p:cNvPr>
          <p:cNvSpPr txBox="1"/>
          <p:nvPr/>
        </p:nvSpPr>
        <p:spPr>
          <a:xfrm>
            <a:off x="609600" y="3638490"/>
            <a:ext cx="8538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5: How have global emissions changed year over year?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6F1613-1184-1807-2058-18378F42E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595" y="4419864"/>
            <a:ext cx="3500806" cy="1513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E22643-754E-F69F-8A5D-8A2F7D5CC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529" y="4408240"/>
            <a:ext cx="2960721" cy="15130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344358"/>
            <a:ext cx="8839200" cy="332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trend in GDP for each country over the given years?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459955" y="506603"/>
            <a:ext cx="54946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40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307F40-19DE-E1E4-AD8A-0EA845894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283" y="2357288"/>
            <a:ext cx="3195998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8114EF-6652-6A6F-DE6A-4B23F915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730508"/>
            <a:ext cx="3195998" cy="4407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00F2-3D05-F982-48C2-66617F0C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CB148A-FBCA-FC60-1303-B448B48A25D5}"/>
              </a:ext>
            </a:extLst>
          </p:cNvPr>
          <p:cNvSpPr txBox="1"/>
          <p:nvPr/>
        </p:nvSpPr>
        <p:spPr>
          <a:xfrm>
            <a:off x="609600" y="1344358"/>
            <a:ext cx="8839200" cy="332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7: What is the Population Growth vs Total Emissions?</a:t>
            </a:r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8C860325-8DBC-5474-E63C-E28246FE417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9955" y="506603"/>
            <a:ext cx="54946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05"/>
              </a:spcBef>
            </a:pPr>
            <a:r>
              <a:rPr lang="en-US" sz="4000" spc="-22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spc="-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7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US" sz="4000" spc="-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B2D391-0772-9145-BBB5-3FA12FC6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885137"/>
            <a:ext cx="4112075" cy="396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0074B6-DDD4-34D0-6482-142739D52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276" y="1496347"/>
            <a:ext cx="4703348" cy="520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91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 descr="$PPTXTitle">
            <a:extLst>
              <a:ext uri="{FF2B5EF4-FFF2-40B4-BE49-F238E27FC236}">
                <a16:creationId xmlns:a16="http://schemas.microsoft.com/office/drawing/2014/main" id="{EDCD5D5E-2C9E-2661-B245-B72F0D6196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" y="434975"/>
            <a:ext cx="11271250" cy="79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54940">
              <a:spcBef>
                <a:spcPts val="105"/>
              </a:spcBef>
            </a:pPr>
            <a:r>
              <a:rPr lang="en-US" sz="4000" b="1" spc="-2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b="1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BA59303-99D4-F464-D22A-F2E785DB33A4}"/>
              </a:ext>
            </a:extLst>
          </p:cNvPr>
          <p:cNvSpPr txBox="1"/>
          <p:nvPr/>
        </p:nvSpPr>
        <p:spPr>
          <a:xfrm>
            <a:off x="609600" y="1344358"/>
            <a:ext cx="9982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energy consumption per capita for each country over the last decade?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A067CA-7D57-0180-F5AB-B102EEDC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34" y="1894478"/>
            <a:ext cx="4011056" cy="4528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3379B-3EFA-44FE-B5E8-22EE17DAA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659656"/>
            <a:ext cx="3810001" cy="4640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201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 descr="$PPTXTitle">
            <a:extLst>
              <a:ext uri="{FF2B5EF4-FFF2-40B4-BE49-F238E27FC236}">
                <a16:creationId xmlns:a16="http://schemas.microsoft.com/office/drawing/2014/main" id="{D700F9B8-0EAF-582F-2A43-222BF06B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" y="434975"/>
            <a:ext cx="11271250" cy="79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54940">
              <a:spcBef>
                <a:spcPts val="105"/>
              </a:spcBef>
            </a:pPr>
            <a:r>
              <a:rPr lang="en-US" sz="4000" b="1" spc="-2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b="1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551A120-ADB0-D6D3-B124-1B556B7CDCE1}"/>
              </a:ext>
            </a:extLst>
          </p:cNvPr>
          <p:cNvSpPr txBox="1"/>
          <p:nvPr/>
        </p:nvSpPr>
        <p:spPr>
          <a:xfrm>
            <a:off x="609600" y="1344358"/>
            <a:ext cx="6096000" cy="332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10 countries by population?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187B50-611A-5EAB-6CD5-6B55721C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1648692"/>
            <a:ext cx="3828920" cy="4774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22D13C-9A26-BD0C-99E6-9403BBB4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630" y="1856058"/>
            <a:ext cx="2924370" cy="40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31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5D847D1-2F21-84D5-E268-D34A09800D83}"/>
              </a:ext>
            </a:extLst>
          </p:cNvPr>
          <p:cNvSpPr txBox="1"/>
          <p:nvPr/>
        </p:nvSpPr>
        <p:spPr>
          <a:xfrm>
            <a:off x="609600" y="1344358"/>
            <a:ext cx="79248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emission-to-GDP ratio for each country by year?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 descr="$PPTXTitle">
            <a:extLst>
              <a:ext uri="{FF2B5EF4-FFF2-40B4-BE49-F238E27FC236}">
                <a16:creationId xmlns:a16="http://schemas.microsoft.com/office/drawing/2014/main" id="{9F6D42D3-524B-2DDE-E964-DCBD03E69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" y="434975"/>
            <a:ext cx="11271250" cy="79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54940">
              <a:spcBef>
                <a:spcPts val="105"/>
              </a:spcBef>
            </a:pPr>
            <a:r>
              <a:rPr lang="en-US" sz="4000" b="1" spc="-2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4000" b="1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1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C4751-61D8-3CCA-E46B-9BF631658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62984"/>
            <a:ext cx="3933749" cy="3418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E7A982-9FE4-71B3-5365-596F02C5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04720"/>
            <a:ext cx="3505200" cy="4718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5604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B38958-2DF8-CF2D-6FFA-46A735CE49C5}"/>
              </a:ext>
            </a:extLst>
          </p:cNvPr>
          <p:cNvSpPr txBox="1"/>
          <p:nvPr/>
        </p:nvSpPr>
        <p:spPr>
          <a:xfrm>
            <a:off x="914400" y="1295400"/>
            <a:ext cx="10287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managed and analyzed worldwide energy data using SQL.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higher energy consumption generally show higher carbon emissions.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growth is often associated with increased energy demand.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Per-capita analysis highlights differences in energy efficiency between countries.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production and consumption vary significantly across regions.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emissions are concentrated in a limited number of major economies.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relationships ensured data integrity and consistency across all datasets.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337500"/>
            <a:ext cx="10210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just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Recommendations: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Promote renewable and clean energy sources to reduce carbon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Improve energy efficiency in high-consumption sectors.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Encourage sustainable energy policies based on data-driven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Monitor emission-to-GDP ratios to balance economic growth with environmental sustainability.</a:t>
            </a:r>
          </a:p>
          <a:p>
            <a:endParaRPr lang="en-US" b="0" dirty="0"/>
          </a:p>
          <a:p>
            <a:r>
              <a:rPr lang="en-US" dirty="0"/>
              <a:t>Future Scope: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Develop interactive dashboards using Power BI.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Integrate real-time global energy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Apply Machine Learning to forecast future energy demand and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Expand the database with renewable energy and climate indicators.</a:t>
            </a:r>
            <a:endParaRPr b="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2780" y="517905"/>
            <a:ext cx="70688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Future Scope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447800"/>
            <a:ext cx="101619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just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Successfully designed and analyzed a Worldwide Energy Consumption Analysis database using 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Integrated six interconnected datasets using primary and foreign key relationships.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Performed analysis on energy consumption, production, GDP, population, and carbon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Identified meaningful trends and comparisons through SQL queries and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Demonstrated the practical use of SQL for analyzing real-world energy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Generated valuable insights to support data-driven decision-making and sustainable energy planning.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940">
              <a:spcBef>
                <a:spcPts val="105"/>
              </a:spcBef>
            </a:pPr>
            <a:r>
              <a:rPr sz="4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4875" y="6256060"/>
            <a:ext cx="2714076" cy="5121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7938" y="1719452"/>
            <a:ext cx="7831045" cy="30091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68" y="164617"/>
            <a:ext cx="11777472" cy="65487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791</Words>
  <Application>Microsoft Office PowerPoint</Application>
  <PresentationFormat>Widescreen</PresentationFormat>
  <Paragraphs>145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MT</vt:lpstr>
      <vt:lpstr>Calibri</vt:lpstr>
      <vt:lpstr>Microsoft Sans Serif</vt:lpstr>
      <vt:lpstr>Tahoma</vt:lpstr>
      <vt:lpstr>Times New Roman</vt:lpstr>
      <vt:lpstr>Office Theme</vt:lpstr>
      <vt:lpstr>PowerPoint Presentation</vt:lpstr>
      <vt:lpstr>About Me</vt:lpstr>
      <vt:lpstr>Agenda</vt:lpstr>
      <vt:lpstr>Business Problem</vt:lpstr>
      <vt:lpstr>Problem Statement</vt:lpstr>
      <vt:lpstr>Introduction</vt:lpstr>
      <vt:lpstr>Data Description</vt:lpstr>
      <vt:lpstr>ER Diagram &amp; Cardinalities</vt:lpstr>
      <vt:lpstr>Analysis Queries</vt:lpstr>
      <vt:lpstr>Analysis Queries</vt:lpstr>
      <vt:lpstr>Analysis Queries</vt:lpstr>
      <vt:lpstr>Analysis Queries</vt:lpstr>
      <vt:lpstr>Analysis Queries</vt:lpstr>
      <vt:lpstr>Analysis Queries</vt:lpstr>
      <vt:lpstr>Analysis Queries</vt:lpstr>
      <vt:lpstr>Analysis Queries</vt:lpstr>
      <vt:lpstr>Analysis Queries</vt:lpstr>
      <vt:lpstr>Business Insights</vt:lpstr>
      <vt:lpstr>Recommendations &amp; 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MEGHAMALA BAIPOTHU</dc:creator>
  <cp:lastModifiedBy>MEGHAMALA BAIPOTHU</cp:lastModifiedBy>
  <cp:revision>4</cp:revision>
  <dcterms:created xsi:type="dcterms:W3CDTF">2026-07-01T03:43:08Z</dcterms:created>
  <dcterms:modified xsi:type="dcterms:W3CDTF">2026-07-02T04:05:11Z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2026-07-01T00:00:00Z</vt:filetime>
  </property>
  <property fmtid="{D5CDD505-2E9C-101B-9397-08002B2CF9AE}" pid="4" name="LastSaved">
    <vt:filetime>2026-07-01T00:00:00Z</vt:filetime>
  </property>
</Properties>
</file>